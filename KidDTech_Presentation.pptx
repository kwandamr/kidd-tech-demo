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jpeg"/><Relationship Id="rId3" Type="http://schemas.openxmlformats.org/officeDocument/2006/relationships/image" Target="../media/image-10-3.jpeg"/><Relationship Id="rId4" Type="http://schemas.openxmlformats.org/officeDocument/2006/relationships/image" Target="../media/image-10-4.jpeg"/><Relationship Id="rId5" Type="http://schemas.openxmlformats.org/officeDocument/2006/relationships/image" Target="../media/image-10-5.jpeg"/><Relationship Id="rId6" Type="http://schemas.openxmlformats.org/officeDocument/2006/relationships/image" Target="../media/image-10-6.jpeg"/><Relationship Id="rId7" Type="http://schemas.openxmlformats.org/officeDocument/2006/relationships/image" Target="../media/image-10-7.jpeg"/><Relationship Id="rId8" Type="http://schemas.openxmlformats.org/officeDocument/2006/relationships/image" Target="../media/image-10-8.jpe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114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KID-D TECH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11480" y="100584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ระบบตรวจสอบไซโลอัจฉริยะ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11480" y="19659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Silo Monitoring System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26974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ควบคุมคุณภาพธัญพืช · ป้องกันความเสียหาย · เพิ่มกำไรโรงงาน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200400"/>
            <a:ext cx="2560320" cy="1234440"/>
          </a:xfrm>
          <a:prstGeom prst="rect">
            <a:avLst/>
          </a:prstGeom>
          <a:solidFill>
            <a:srgbClr val="1B3A5C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32461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7200" y="382219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ถังไซโล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3200400"/>
            <a:ext cx="2560320" cy="1234440"/>
          </a:xfrm>
          <a:prstGeom prst="rect">
            <a:avLst/>
          </a:prstGeom>
          <a:solidFill>
            <a:srgbClr val="1B3A5C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83280" y="32461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383280" y="382219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ติดตาม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ตลอดเวลา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3200400"/>
            <a:ext cx="2560320" cy="1234440"/>
          </a:xfrm>
          <a:prstGeom prst="rect">
            <a:avLst/>
          </a:prstGeom>
          <a:solidFill>
            <a:srgbClr val="1B3A5C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09360" y="32461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309360" y="382219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คาดการณ์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ล่วงหน้า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0808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กำลังสูญเงินทุกวัน  —  โดยไม่รู้ตัว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126480" y="73152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฿800K–4M/ปี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0" y="5303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ความเสียหายเฉลี่ยต่อโรงงาน (ไม่รวม Aflatoxin)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82880" y="1005840"/>
            <a:ext cx="8778240" cy="868680"/>
          </a:xfrm>
          <a:prstGeom prst="rect">
            <a:avLst/>
          </a:prstGeom>
          <a:solidFill>
            <a:srgbClr val="0D1B2E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1005840"/>
            <a:ext cx="201168" cy="8686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280160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109728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อุณหภูมิในไซโลสูงเกิน  —  ไม่มีใครรู้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146304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ธัญพืชเสื่อมคุณภาพ เชื้อราเพิ่มขึ้น ราคาตก ทุกวันที่ไม่รู้คือเงินหายไป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760720" y="108813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฿400K–1.5M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760720" y="149961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มูลค่าธัญพืชเสียหายต่อปี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82880" y="2011680"/>
            <a:ext cx="8778240" cy="868680"/>
          </a:xfrm>
          <a:prstGeom prst="rect">
            <a:avLst/>
          </a:prstGeom>
          <a:solidFill>
            <a:srgbClr val="0D1B2E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80" y="2011680"/>
            <a:ext cx="201168" cy="8686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2286000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210312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Aflatoxin  —  สินค้าถูก Reject ทั้งล็อต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246888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ลูกค้ายกเลิก Order ถูกขึ้นบัญชีดำ สูญเสียความเชื่อถือระยะยาว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760720" y="209397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฿3M–10M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760720" y="250545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ต่อครั้งที่ถูกปฏิเสธ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82880" y="3017520"/>
            <a:ext cx="8778240" cy="868680"/>
          </a:xfrm>
          <a:prstGeom prst="rect">
            <a:avLst/>
          </a:prstGeom>
          <a:solidFill>
            <a:srgbClr val="0D1B2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2880" y="3017520"/>
            <a:ext cx="201168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291840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60120" y="310896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พัดลมเปิดตลอด 24 ชม.  โดยไม่จำเป็น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0120" y="347472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ไม่มีข้อมูล ตัดสินใจด้วยความรู้สึก สิ้นเปลืองโดยไม่รู้ตัว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760720" y="309981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฿150K–450K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760720" y="351129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ค่าไฟฟ้าส่วนเกินต่อปี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82880" y="4023360"/>
            <a:ext cx="8778240" cy="868680"/>
          </a:xfrm>
          <a:prstGeom prst="rect">
            <a:avLst/>
          </a:prstGeom>
          <a:solidFill>
            <a:srgbClr val="0D1B2E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2880" y="4023360"/>
            <a:ext cx="201168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" y="4297680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60120" y="411480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ตรวจด้วยมือ 4 ชม./วัน  พลาดทุกคืน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60120" y="448056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พนักงานเดินตรวจทุกถัง ไม่มี Alert อัตโนมัติ กลางดึกไม่มีใครรู้เลย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760720" y="4105656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฿180K+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760720" y="4517136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ค่าแรงตรวจสอบต่อปี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540"/>
          </a:solidFill>
          <a:ln w="12700">
            <a:solidFill>
              <a:srgbClr val="0F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Kid-D Tech แก้ปัญหาอย่างไร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1188720" cy="11887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46304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256032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ในไซโล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965960" y="1828800"/>
            <a:ext cx="54864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788920" y="1234440"/>
            <a:ext cx="1188720" cy="118872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0" y="1463040"/>
            <a:ext cx="731520" cy="7315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606040" y="256032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Mitsubishi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069080" y="1828800"/>
            <a:ext cx="54864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892040" y="1234440"/>
            <a:ext cx="1188720" cy="11887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1463040"/>
            <a:ext cx="731520" cy="7315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709160" y="256032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172200" y="1828800"/>
            <a:ext cx="548640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995160" y="1234440"/>
            <a:ext cx="1188720" cy="11887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1463040"/>
            <a:ext cx="731520" cy="7315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812280" y="256032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457200" y="3383280"/>
            <a:ext cx="2651760" cy="1417320"/>
          </a:xfrm>
          <a:prstGeom prst="rect">
            <a:avLst/>
          </a:prstGeom>
          <a:solidFill>
            <a:srgbClr val="0F2540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457200" y="3383280"/>
            <a:ext cx="265176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457200" y="34015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ลดความเสียหาย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457200" y="374904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ตรวจพบปัญหา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ก่อนเกิดเสียหาย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3337560" y="3383280"/>
            <a:ext cx="2651760" cy="1417320"/>
          </a:xfrm>
          <a:prstGeom prst="rect">
            <a:avLst/>
          </a:prstGeom>
          <a:solidFill>
            <a:srgbClr val="0F2540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3337560" y="3383280"/>
            <a:ext cx="265176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337560" y="34015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ประหยัดพลังงาน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3337560" y="374904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ควบคุมพัดลม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อัจฉริยะ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6217920" y="3383280"/>
            <a:ext cx="2651760" cy="1417320"/>
          </a:xfrm>
          <a:prstGeom prst="rect">
            <a:avLst/>
          </a:prstGeom>
          <a:solidFill>
            <a:srgbClr val="0F2540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217920" y="3383280"/>
            <a:ext cx="265176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6217920" y="340156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ตัดสินใจแม่นยำ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6217920" y="374904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ข้อมูล Real-time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ตลอด 24 ชม.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540"/>
          </a:solidFill>
          <a:ln w="12700">
            <a:solidFill>
              <a:srgbClr val="0F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 Kid-D Tech ทำอะไรได้บ้าง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0" y="25603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ฟีเจอร์หลัก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2743200" cy="1801368"/>
          </a:xfrm>
          <a:prstGeom prst="rect">
            <a:avLst/>
          </a:prstGeom>
          <a:solidFill>
            <a:srgbClr val="1E293B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274320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26464"/>
            <a:ext cx="457200" cy="457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481328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1335024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ติดตาม Sensor Real-time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" y="2029968"/>
            <a:ext cx="2560320" cy="25603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38328" y="2048256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ทุก 3 วินาที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20040" y="235915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/ CO2 / ความชื้น ทุกถังทุกขณะ พร้อมสี Alert อัตโนมัติ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200400" y="1005840"/>
            <a:ext cx="2743200" cy="1801368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00400" y="1005840"/>
            <a:ext cx="2743200" cy="2926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337560" y="1426464"/>
            <a:ext cx="457200" cy="457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481328"/>
            <a:ext cx="347472" cy="34747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886200" y="1335024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แจ้งเตือนทันที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3291840" y="2029968"/>
            <a:ext cx="2560320" cy="25603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310128" y="2048256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5 วินาที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3291840" y="235915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/ Email / หน้าจอ แจ้งทันทีที่เกิน threshold ที่กำหนด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6172200" y="1005840"/>
            <a:ext cx="2743200" cy="1801368"/>
          </a:xfrm>
          <a:prstGeom prst="rect">
            <a:avLst/>
          </a:prstGeom>
          <a:solidFill>
            <a:srgbClr val="1E293B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172200" y="1005840"/>
            <a:ext cx="274320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309360" y="1426464"/>
            <a:ext cx="457200" cy="457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481328"/>
            <a:ext cx="347472" cy="34747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858000" y="1335024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AI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6263640" y="2029968"/>
            <a:ext cx="2560320" cy="25603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281928" y="2048256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โมเดล AI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6263640" y="235915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คาดการณ์ Aflatoxin, Hot Spot, Safe Days ล่วงหน้า 24-48 ชม.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228600" y="2990088"/>
            <a:ext cx="2743200" cy="1801368"/>
          </a:xfrm>
          <a:prstGeom prst="rect">
            <a:avLst/>
          </a:prstGeom>
          <a:solidFill>
            <a:srgbClr val="1E293B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228600" y="2990088"/>
            <a:ext cx="2743200" cy="2926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365760" y="3410712"/>
            <a:ext cx="457200" cy="457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465576"/>
            <a:ext cx="347472" cy="347472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914400" y="3319272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พัดลมอัจฉริยะ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320040" y="4014216"/>
            <a:ext cx="2560320" cy="25603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338328" y="4032504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ลดค่าไฟ 25-30%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320040" y="43434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ควบคุม-ตั้งเวลาพัดลมผ่านหน้าจอ เปิดเฉพาะเมื่อจำเป็น</a:t>
            </a:r>
            <a:endParaRPr lang="en-US" sz="900" dirty="0"/>
          </a:p>
        </p:txBody>
      </p:sp>
      <p:sp>
        <p:nvSpPr>
          <p:cNvPr id="37" name="Shape 31"/>
          <p:cNvSpPr/>
          <p:nvPr/>
        </p:nvSpPr>
        <p:spPr>
          <a:xfrm>
            <a:off x="3200400" y="2990088"/>
            <a:ext cx="2743200" cy="1801368"/>
          </a:xfrm>
          <a:prstGeom prst="rect">
            <a:avLst/>
          </a:prstGeom>
          <a:solidFill>
            <a:srgbClr val="1E293B"/>
          </a:solidFill>
          <a:ln w="12700">
            <a:solidFill>
              <a:srgbClr val="0369A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3200400" y="2990088"/>
            <a:ext cx="2743200" cy="29260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3337560" y="3410712"/>
            <a:ext cx="457200" cy="457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3465576"/>
            <a:ext cx="347472" cy="347472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3886200" y="3319272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รายงาน &amp; Export</a:t>
            </a:r>
            <a:endParaRPr lang="en-US" sz="1200" dirty="0"/>
          </a:p>
        </p:txBody>
      </p:sp>
      <p:sp>
        <p:nvSpPr>
          <p:cNvPr id="42" name="Shape 35"/>
          <p:cNvSpPr/>
          <p:nvPr/>
        </p:nvSpPr>
        <p:spPr>
          <a:xfrm>
            <a:off x="3291840" y="4014216"/>
            <a:ext cx="2560320" cy="25603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3310128" y="4032504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/ Excel</a:t>
            </a:r>
            <a:endParaRPr lang="en-US" sz="900" dirty="0"/>
          </a:p>
        </p:txBody>
      </p:sp>
      <p:sp>
        <p:nvSpPr>
          <p:cNvPr id="44" name="Text 37"/>
          <p:cNvSpPr/>
          <p:nvPr/>
        </p:nvSpPr>
        <p:spPr>
          <a:xfrm>
            <a:off x="3291840" y="43434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ประวัติข้อมูลย้อนหลัง แนวโน้มรายถัง ส่งออกได้ทันที</a:t>
            </a:r>
            <a:endParaRPr lang="en-US" sz="900" dirty="0"/>
          </a:p>
        </p:txBody>
      </p:sp>
      <p:sp>
        <p:nvSpPr>
          <p:cNvPr id="45" name="Shape 38"/>
          <p:cNvSpPr/>
          <p:nvPr/>
        </p:nvSpPr>
        <p:spPr>
          <a:xfrm>
            <a:off x="6172200" y="2990088"/>
            <a:ext cx="2743200" cy="1801368"/>
          </a:xfrm>
          <a:prstGeom prst="rect">
            <a:avLst/>
          </a:prstGeom>
          <a:solidFill>
            <a:srgbClr val="1E293B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Shape 39"/>
          <p:cNvSpPr/>
          <p:nvPr/>
        </p:nvSpPr>
        <p:spPr>
          <a:xfrm>
            <a:off x="6172200" y="2990088"/>
            <a:ext cx="2743200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7" name="Shape 40"/>
          <p:cNvSpPr/>
          <p:nvPr/>
        </p:nvSpPr>
        <p:spPr>
          <a:xfrm>
            <a:off x="6309360" y="3410712"/>
            <a:ext cx="457200" cy="45720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4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465576"/>
            <a:ext cx="347472" cy="347472"/>
          </a:xfrm>
          <a:prstGeom prst="rect">
            <a:avLst/>
          </a:prstGeom>
        </p:spPr>
      </p:pic>
      <p:sp>
        <p:nvSpPr>
          <p:cNvPr id="49" name="Text 41"/>
          <p:cNvSpPr/>
          <p:nvPr/>
        </p:nvSpPr>
        <p:spPr>
          <a:xfrm>
            <a:off x="6858000" y="3319272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จัดการ Fumigation</a:t>
            </a:r>
            <a:endParaRPr lang="en-US" sz="1200" dirty="0"/>
          </a:p>
        </p:txBody>
      </p:sp>
      <p:sp>
        <p:nvSpPr>
          <p:cNvPr id="50" name="Shape 42"/>
          <p:cNvSpPr/>
          <p:nvPr/>
        </p:nvSpPr>
        <p:spPr>
          <a:xfrm>
            <a:off x="6263640" y="4014216"/>
            <a:ext cx="2560320" cy="256032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51" name="Text 43"/>
          <p:cNvSpPr/>
          <p:nvPr/>
        </p:nvSpPr>
        <p:spPr>
          <a:xfrm>
            <a:off x="6281928" y="4032504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แจ้งเตือนครบวงจร</a:t>
            </a:r>
            <a:endParaRPr lang="en-US" sz="900" dirty="0"/>
          </a:p>
        </p:txBody>
      </p:sp>
      <p:sp>
        <p:nvSpPr>
          <p:cNvPr id="52" name="Text 44"/>
          <p:cNvSpPr/>
          <p:nvPr/>
        </p:nvSpPr>
        <p:spPr>
          <a:xfrm>
            <a:off x="6263640" y="43434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ติดตามวันอบยา ป้องกันแมลงและเชื้อราเชิงรุก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540"/>
          </a:solidFill>
          <a:ln w="12700">
            <a:solidFill>
              <a:srgbClr val="0F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หน้าจอ Dashboard — ตัวอย่างจริง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3749040"/>
          </a:xfrm>
          <a:prstGeom prst="rect">
            <a:avLst/>
          </a:prstGeom>
          <a:solidFill>
            <a:srgbClr val="1A2535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8412480" cy="292608"/>
          </a:xfrm>
          <a:prstGeom prst="rect">
            <a:avLst/>
          </a:prstGeom>
          <a:solidFill>
            <a:srgbClr val="0F1E2E"/>
          </a:solidFill>
          <a:ln w="12700">
            <a:solidFill>
              <a:srgbClr val="0F1E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78992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● ●   kidDtech/feedmill-01/dashboard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1344168"/>
            <a:ext cx="8412480" cy="347472"/>
          </a:xfrm>
          <a:prstGeom prst="rect">
            <a:avLst/>
          </a:prstGeom>
          <a:solidFill>
            <a:srgbClr val="0F2540"/>
          </a:solidFill>
          <a:ln w="12700">
            <a:solidFill>
              <a:srgbClr val="0F25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716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Dashboard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075688" y="13716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💨 Fan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48456" y="13716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Predictive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221224" y="13716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Report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793992" y="13716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🌿 Fumigation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1783080"/>
            <a:ext cx="1508760" cy="123444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181051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0352" y="20848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 27.5°C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0352" y="232257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420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30352" y="25603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💧 14.2%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084832" y="1783080"/>
            <a:ext cx="1508760" cy="123444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084832" y="181051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57984" y="20848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 29.0°C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157984" y="232257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380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157984" y="25603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💧 13.8%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712464" y="1783080"/>
            <a:ext cx="1508760" cy="1234440"/>
          </a:xfrm>
          <a:prstGeom prst="rect">
            <a:avLst/>
          </a:prstGeom>
          <a:solidFill>
            <a:srgbClr val="3B1515"/>
          </a:solidFill>
          <a:ln w="254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712464" y="181051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785616" y="20848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 34.0°C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785616" y="232257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1650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785616" y="25603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💧 15.8%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712464" y="280720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ALERT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340096" y="1783080"/>
            <a:ext cx="1508760" cy="123444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340096" y="181051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13248" y="20848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 26.5°C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13248" y="232257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410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13248" y="25603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💧 13.5%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967728" y="1783080"/>
            <a:ext cx="1508760" cy="1234440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967728" y="181051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S05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040880" y="20848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 27.2°C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040880" y="232257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395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040880" y="25603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💧 14.0%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65760" y="31546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S03 แสดงสถานะ Alert — CO₂ เกิน 1,500 ppm และอุณหภูมิสูงผิดปกติ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3566160"/>
            <a:ext cx="2606040" cy="822960"/>
          </a:xfrm>
          <a:prstGeom prst="rect">
            <a:avLst/>
          </a:prstGeom>
          <a:solidFill>
            <a:srgbClr val="0F2540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359359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17/20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457200" y="39776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ถังปกติ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3291840" y="3566160"/>
            <a:ext cx="2606040" cy="822960"/>
          </a:xfrm>
          <a:prstGeom prst="rect">
            <a:avLst/>
          </a:prstGeom>
          <a:solidFill>
            <a:srgbClr val="0F2540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91840" y="359359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3291840" y="39776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ถัง Alert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126480" y="3566160"/>
            <a:ext cx="2606040" cy="822960"/>
          </a:xfrm>
          <a:prstGeom prst="rect">
            <a:avLst/>
          </a:prstGeom>
          <a:solidFill>
            <a:srgbClr val="0F2540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26480" y="359359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28.1°C</a:t>
            </a:r>
            <a:endParaRPr lang="en-US" sz="2000" dirty="0"/>
          </a:p>
        </p:txBody>
      </p:sp>
      <p:sp>
        <p:nvSpPr>
          <p:cNvPr id="48" name="Text 46"/>
          <p:cNvSpPr/>
          <p:nvPr/>
        </p:nvSpPr>
        <p:spPr>
          <a:xfrm>
            <a:off x="6126480" y="39776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อุณหภูมิเฉลี่ย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540"/>
          </a:solidFill>
          <a:ln w="12700">
            <a:solidFill>
              <a:srgbClr val="0F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 Predictive Intelligence — AI คาดการณ์ล่วงหน้า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6060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2606040" cy="320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3385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 Forecast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490472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คาดการณ์แนวโน้ม CO₂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ในอีก 24 ชั่วโมงข้างหน้า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097280"/>
            <a:ext cx="26060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1097280"/>
            <a:ext cx="260604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13385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Spot Detection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0" y="1490472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ตรวจจุดร้อนผิดปกติ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และแนะนำพัดลมที่ต้องเปิด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097280"/>
            <a:ext cx="26060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097280"/>
            <a:ext cx="2606040" cy="3200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13385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Aflatoxin Risk Score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55080" y="1490472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คำนวณความเสี่ยง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เชื้อรา 0–100 พร้อม action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764792" y="2926080"/>
            <a:ext cx="26060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764792" y="2926080"/>
            <a:ext cx="260604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56232" y="296265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EMC Window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901952" y="3319272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ช่วงเวลาปลอดภัยสำหรับ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การเก็บรักษาธัญพืช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27448" y="2926080"/>
            <a:ext cx="26060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27448" y="2926080"/>
            <a:ext cx="2606040" cy="3200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18888" y="296265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Days Remaining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64608" y="3319272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วันที่เหลือก่อนสินค้า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เริ่มเสื่อมคุณภาพ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20040" y="470916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ระบบ AI คำนวณจากสมการ Henderson EMC ร่วมกับ Historical Data ของแต่ละถัง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540"/>
          </a:solidFill>
          <a:ln w="12700">
            <a:solidFill>
              <a:srgbClr val="0F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การเชื่อมต่อ PLC Mitsubishi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1920240" cy="2011680"/>
          </a:xfrm>
          <a:prstGeom prst="rect">
            <a:avLst/>
          </a:prstGeom>
          <a:solidFill>
            <a:srgbClr val="0F2540"/>
          </a:solidFill>
          <a:ln w="254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43000"/>
            <a:ext cx="192024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6128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4–20mA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572768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/ CO₂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Moisture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40280" y="2148840"/>
            <a:ext cx="384048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50592" y="1993392"/>
            <a:ext cx="201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423160" y="1143000"/>
            <a:ext cx="1920240" cy="2011680"/>
          </a:xfrm>
          <a:prstGeom prst="rect">
            <a:avLst/>
          </a:prstGeom>
          <a:solidFill>
            <a:srgbClr val="0F2540"/>
          </a:solidFill>
          <a:ln w="25400">
            <a:solidFill>
              <a:srgbClr val="1D4E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23160" y="1143000"/>
            <a:ext cx="1920240" cy="34747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116128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FX5U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14600" y="1572768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Mitsubishi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GX Works3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0" y="2148840"/>
            <a:ext cx="384048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99432" y="1993392"/>
            <a:ext cx="201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0" y="1143000"/>
            <a:ext cx="1920240" cy="2011680"/>
          </a:xfrm>
          <a:prstGeom prst="rect">
            <a:avLst/>
          </a:prstGeom>
          <a:solidFill>
            <a:srgbClr val="0F2540"/>
          </a:solidFill>
          <a:ln w="254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0" y="1143000"/>
            <a:ext cx="1920240" cy="3474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116128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63440" y="1572768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SLMP Protocol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5007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537960" y="2148840"/>
            <a:ext cx="384048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48272" y="1993392"/>
            <a:ext cx="201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720840" y="1143000"/>
            <a:ext cx="1920240" cy="2011680"/>
          </a:xfrm>
          <a:prstGeom prst="rect">
            <a:avLst/>
          </a:prstGeom>
          <a:solidFill>
            <a:srgbClr val="0F2540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20840" y="1143000"/>
            <a:ext cx="192024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0" y="116128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12280" y="1572768"/>
            <a:ext cx="1737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HiveMQ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3337560"/>
            <a:ext cx="8595360" cy="868680"/>
          </a:xfrm>
          <a:prstGeom prst="rect">
            <a:avLst/>
          </a:prstGeom>
          <a:solidFill>
            <a:srgbClr val="0D9488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7200" y="34290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  Web Dashboard  —  รองรับทุกอุปกรณ์ PC / Tablet / มือถือ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65760" y="4343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Mitsubishi FX5U/FX3U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514600" y="4343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SLMP / MC Protocol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663440" y="4343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MQTT QoS 1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812280" y="4343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Real-time &lt; 5 วินาที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ผลตอบแทนจากการลงทุน (ROI)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0" y="3474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*อ้างอิง: สต็อก 10 ไซโล x 500 ตัน/ไซโล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4023360" cy="3858768"/>
          </a:xfrm>
          <a:prstGeom prst="rect">
            <a:avLst/>
          </a:prstGeom>
          <a:solidFill>
            <a:srgbClr val="1A0808"/>
          </a:solidFill>
          <a:ln w="1905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1005840"/>
            <a:ext cx="4023360" cy="43891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3327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ก่อนติดตั้ง  X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572768"/>
            <a:ext cx="3840480" cy="676656"/>
          </a:xfrm>
          <a:prstGeom prst="rect">
            <a:avLst/>
          </a:prstGeom>
          <a:solidFill>
            <a:srgbClr val="2D1212"/>
          </a:solidFill>
          <a:ln w="6350">
            <a:solidFill>
              <a:srgbClr val="2D121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63677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สูญเสียสินค้าต่อปี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77440" y="160934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฿800K–4M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" y="197510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จากอุณหภูมิ+ความชื้นเกิน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74320" y="2368296"/>
            <a:ext cx="3840480" cy="676656"/>
          </a:xfrm>
          <a:prstGeom prst="rect">
            <a:avLst/>
          </a:prstGeom>
          <a:solidFill>
            <a:srgbClr val="2D1212"/>
          </a:solidFill>
          <a:ln w="6350">
            <a:solidFill>
              <a:srgbClr val="2D121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43230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Aflatoxin Rejection / ครั้ง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377440" y="240487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฿3M–10M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" y="277063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ต่อครั้งที่ถูกส่งสินค้าคืน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74320" y="3163824"/>
            <a:ext cx="3840480" cy="676656"/>
          </a:xfrm>
          <a:prstGeom prst="rect">
            <a:avLst/>
          </a:prstGeom>
          <a:solidFill>
            <a:srgbClr val="2D1212"/>
          </a:solidFill>
          <a:ln w="6350">
            <a:solidFill>
              <a:srgbClr val="2D121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2278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ค่าแรงตรวจสอบ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377440" y="320040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฿180K+/ปี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11480" y="356616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เดินตรวจมือ 4 ชม./วัน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74320" y="3959352"/>
            <a:ext cx="3840480" cy="676656"/>
          </a:xfrm>
          <a:prstGeom prst="rect">
            <a:avLst/>
          </a:prstGeom>
          <a:solidFill>
            <a:srgbClr val="2D1212"/>
          </a:solidFill>
          <a:ln w="6350">
            <a:solidFill>
              <a:srgbClr val="2D121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40233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ค่าไฟฟ้าพัดลมส่วนเกิน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377440" y="399592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฿150K+/ปี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11480" y="436168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เปิดตลอดโดยไม่มีข้อมูล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937760" y="1005840"/>
            <a:ext cx="4023360" cy="3858768"/>
          </a:xfrm>
          <a:prstGeom prst="rect">
            <a:avLst/>
          </a:prstGeom>
          <a:solidFill>
            <a:srgbClr val="06171A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37760" y="1005840"/>
            <a:ext cx="402336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103327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หลังติด Kid-D Tech  O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029200" y="1572768"/>
            <a:ext cx="3840480" cy="676656"/>
          </a:xfrm>
          <a:prstGeom prst="rect">
            <a:avLst/>
          </a:prstGeom>
          <a:solidFill>
            <a:srgbClr val="0A2A2A"/>
          </a:solidFill>
          <a:ln w="6350">
            <a:solidFill>
              <a:srgbClr val="0D2A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20640" y="16367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E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ลดความเสียหายสินค้า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178040" y="160934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80%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20640" y="197510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แจ้งเตือนก่อนเกิดความเสียหาย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029200" y="2368296"/>
            <a:ext cx="3840480" cy="676656"/>
          </a:xfrm>
          <a:prstGeom prst="rect">
            <a:avLst/>
          </a:prstGeom>
          <a:solidFill>
            <a:srgbClr val="0A2A2A"/>
          </a:solidFill>
          <a:ln w="6350">
            <a:solidFill>
              <a:srgbClr val="0D2A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20640" y="243230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E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ป้องกัน Aflatoxin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178040" y="2404872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ล่วงหน้า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120640" y="277063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แจ้งเตือนก่อน 24-48 ชม.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029200" y="3163824"/>
            <a:ext cx="3840480" cy="676656"/>
          </a:xfrm>
          <a:prstGeom prst="rect">
            <a:avLst/>
          </a:prstGeom>
          <a:solidFill>
            <a:srgbClr val="0A2A2A"/>
          </a:solidFill>
          <a:ln w="6350">
            <a:solidFill>
              <a:srgbClr val="0D2A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20640" y="32278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E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ประหยัดค่าแรงตรวจ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178040" y="32004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120640" y="356616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ชม./วัน → น้อยกว่า 30 นาที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029200" y="3959352"/>
            <a:ext cx="3840480" cy="676656"/>
          </a:xfrm>
          <a:prstGeom prst="rect">
            <a:avLst/>
          </a:prstGeom>
          <a:solidFill>
            <a:srgbClr val="0A2A2A"/>
          </a:solidFill>
          <a:ln w="6350">
            <a:solidFill>
              <a:srgbClr val="0D2A2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20640" y="40233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E7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ลดค่าไฟฟ้าพัดลม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178040" y="399592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25–30%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120640" y="436168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ควบคุมอัตโนมัติตามค่าจริง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233672" y="2651760"/>
            <a:ext cx="676656" cy="67665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233672" y="2743200"/>
            <a:ext cx="6766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182880" y="4681728"/>
            <a:ext cx="877824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4709160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คืนทุนภายใน 6–12 เดือน  |  ROI ปีที่ 2 เป็นต้นไป +300%+  |  ป้องกัน Aflatoxin ได้ครั้งเดียวคุ้มทั้งระบบ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540"/>
          </a:solidFill>
          <a:ln w="12700">
            <a:solidFill>
              <a:srgbClr val="0F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ขั้นตอนการเริ่มต้นใช้งาน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685800" cy="6858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3444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97280" y="1143000"/>
            <a:ext cx="6400800" cy="777240"/>
          </a:xfrm>
          <a:prstGeom prst="rect">
            <a:avLst/>
          </a:prstGeom>
          <a:solidFill>
            <a:srgbClr val="0F254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121615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สำรวจพื้นที่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52704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ทีมงาน Kid-D Tech เข้าสำรวจไซโล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และออกแบบ layout sensor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040880" y="1307592"/>
            <a:ext cx="77724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0" y="1325880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วัน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2103120"/>
            <a:ext cx="685800" cy="6858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19456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97280" y="2103120"/>
            <a:ext cx="6400800" cy="777240"/>
          </a:xfrm>
          <a:prstGeom prst="rect">
            <a:avLst/>
          </a:prstGeom>
          <a:solidFill>
            <a:srgbClr val="0F254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34440" y="21762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ติดตั้ง Sensor &amp; PLC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48716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ติดตั้ง sensor และเชื่อมต่อ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Mitsubishi PLC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040880" y="2267712"/>
            <a:ext cx="77724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0" y="2286000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วัน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3063240"/>
            <a:ext cx="685800" cy="6858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15468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097280" y="3063240"/>
            <a:ext cx="6400800" cy="777240"/>
          </a:xfrm>
          <a:prstGeom prst="rect">
            <a:avLst/>
          </a:prstGeom>
          <a:solidFill>
            <a:srgbClr val="0F254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34440" y="31363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ตั้งค่าระบบ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34440" y="344728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Gateway, MQTT,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และ Dashboard ตามข้อมูลลูกค้า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040880" y="3227832"/>
            <a:ext cx="77724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40880" y="3246120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วัน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4023360"/>
            <a:ext cx="685800" cy="6858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11480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097280" y="4023360"/>
            <a:ext cx="6400800" cy="777240"/>
          </a:xfrm>
          <a:prstGeom prst="rect">
            <a:avLst/>
          </a:prstGeom>
          <a:solidFill>
            <a:srgbClr val="0F254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34440" y="409651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ทดสอบและอบรม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234440" y="440740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ทดสอบระบบครบวงจร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อบรมการใช้งานให้ทีมงาน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040880" y="4187952"/>
            <a:ext cx="77724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40880" y="4206240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วัน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20040" y="4709160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รวมระยะเวลาติดตั้งทั้งหมด: 5–7 วัน  |  พร้อมใช้งานใน 1 สัปดาห์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8595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Partner ของ Kid-D Tech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274320" y="56692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Kid-D Tech เป็น SI — Software + Integration Layer ที่ทำงานร่วมกับ Hardware Partner ชั้นนำ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859536"/>
            <a:ext cx="8595360" cy="228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914400"/>
            <a:ext cx="4160520" cy="4069080"/>
          </a:xfrm>
          <a:prstGeom prst="rect">
            <a:avLst/>
          </a:prstGeom>
          <a:solidFill>
            <a:srgbClr val="0F1E30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914400"/>
            <a:ext cx="416052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932688"/>
            <a:ext cx="4069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 AgroLog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56032" y="1444752"/>
            <a:ext cx="1828800" cy="1207008"/>
          </a:xfrm>
          <a:prstGeom prst="rect">
            <a:avLst/>
          </a:prstGeom>
          <a:solidFill>
            <a:srgbClr val="1B3A5C"/>
          </a:solidFill>
          <a:ln w="6350">
            <a:solidFill>
              <a:srgbClr val="253F5A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01752" y="1490472"/>
            <a:ext cx="1737360" cy="8229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56032" y="232257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Sensor Cable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(ATEX Zone 20/21/22)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176272" y="1444752"/>
            <a:ext cx="1828800" cy="1207008"/>
          </a:xfrm>
          <a:prstGeom prst="rect">
            <a:avLst/>
          </a:prstGeom>
          <a:solidFill>
            <a:srgbClr val="1B3A5C"/>
          </a:solidFill>
          <a:ln w="6350">
            <a:solidFill>
              <a:srgbClr val="253F5A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221992" y="1490472"/>
            <a:ext cx="1737360" cy="8229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176272" y="232257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NetLink I/O Board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256032" y="2834640"/>
            <a:ext cx="1828800" cy="1207008"/>
          </a:xfrm>
          <a:prstGeom prst="rect">
            <a:avLst/>
          </a:prstGeom>
          <a:solidFill>
            <a:srgbClr val="1B3A5C"/>
          </a:solidFill>
          <a:ln w="6350">
            <a:solidFill>
              <a:srgbClr val="253F5A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01752" y="2880360"/>
            <a:ext cx="1737360" cy="8229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56032" y="371246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NetController</a:t>
            </a:r>
            <a:endParaRPr lang="en-US" sz="800" dirty="0"/>
          </a:p>
        </p:txBody>
      </p:sp>
      <p:sp>
        <p:nvSpPr>
          <p:cNvPr id="17" name="Shape 12"/>
          <p:cNvSpPr/>
          <p:nvPr/>
        </p:nvSpPr>
        <p:spPr>
          <a:xfrm>
            <a:off x="2176272" y="2834640"/>
            <a:ext cx="1828800" cy="1207008"/>
          </a:xfrm>
          <a:prstGeom prst="rect">
            <a:avLst/>
          </a:prstGeom>
          <a:solidFill>
            <a:srgbClr val="1B3A5C"/>
          </a:solidFill>
          <a:ln w="6350">
            <a:solidFill>
              <a:srgbClr val="253F5A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221992" y="2880360"/>
            <a:ext cx="1737360" cy="8229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2176272" y="371246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AgroLog Gateway</a:t>
            </a:r>
            <a:endParaRPr lang="en-US" sz="800" dirty="0"/>
          </a:p>
        </p:txBody>
      </p:sp>
      <p:sp>
        <p:nvSpPr>
          <p:cNvPr id="20" name="Text 14"/>
          <p:cNvSpPr/>
          <p:nvPr/>
        </p:nvSpPr>
        <p:spPr>
          <a:xfrm>
            <a:off x="274320" y="41330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 Temp + Moisture + CO2</a:t>
            </a:r>
            <a:endParaRPr lang="en-US" sz="850" dirty="0"/>
          </a:p>
        </p:txBody>
      </p:sp>
      <p:sp>
        <p:nvSpPr>
          <p:cNvPr id="21" name="Text 15"/>
          <p:cNvSpPr/>
          <p:nvPr/>
        </p:nvSpPr>
        <p:spPr>
          <a:xfrm>
            <a:off x="274320" y="433425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ATEX certified (explosive-safe)</a:t>
            </a:r>
            <a:endParaRPr lang="en-US" sz="850" dirty="0"/>
          </a:p>
        </p:txBody>
      </p:sp>
      <p:sp>
        <p:nvSpPr>
          <p:cNvPr id="22" name="Text 16"/>
          <p:cNvSpPr/>
          <p:nvPr/>
        </p:nvSpPr>
        <p:spPr>
          <a:xfrm>
            <a:off x="274320" y="453542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 Cloud + Local storage</a:t>
            </a:r>
            <a:endParaRPr lang="en-US" sz="850" dirty="0"/>
          </a:p>
        </p:txBody>
      </p:sp>
      <p:sp>
        <p:nvSpPr>
          <p:cNvPr id="23" name="Text 17"/>
          <p:cNvSpPr/>
          <p:nvPr/>
        </p:nvSpPr>
        <p:spPr>
          <a:xfrm>
            <a:off x="274320" y="473659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OPC-UA / REST API</a:t>
            </a:r>
            <a:endParaRPr lang="en-US" sz="850" dirty="0"/>
          </a:p>
        </p:txBody>
      </p:sp>
      <p:sp>
        <p:nvSpPr>
          <p:cNvPr id="24" name="Shape 18"/>
          <p:cNvSpPr/>
          <p:nvPr/>
        </p:nvSpPr>
        <p:spPr>
          <a:xfrm>
            <a:off x="4800600" y="914400"/>
            <a:ext cx="4160520" cy="4069080"/>
          </a:xfrm>
          <a:prstGeom prst="rect">
            <a:avLst/>
          </a:prstGeom>
          <a:solidFill>
            <a:srgbClr val="0F1E30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800600" y="914400"/>
            <a:ext cx="416052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4846320" y="932688"/>
            <a:ext cx="4069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iGrain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873752" y="1444752"/>
            <a:ext cx="1828800" cy="1207008"/>
          </a:xfrm>
          <a:prstGeom prst="rect">
            <a:avLst/>
          </a:prstGeom>
          <a:solidFill>
            <a:srgbClr val="1B3A5C"/>
          </a:solidFill>
          <a:ln w="6350">
            <a:solidFill>
              <a:srgbClr val="3A3010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919472" y="1490472"/>
            <a:ext cx="1737360" cy="82296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873752" y="232257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 Quality Sensing</a:t>
            </a:r>
            <a:endParaRPr lang="en-US" sz="800" dirty="0"/>
          </a:p>
        </p:txBody>
      </p:sp>
      <p:sp>
        <p:nvSpPr>
          <p:cNvPr id="30" name="Shape 23"/>
          <p:cNvSpPr/>
          <p:nvPr/>
        </p:nvSpPr>
        <p:spPr>
          <a:xfrm>
            <a:off x="6793992" y="1444752"/>
            <a:ext cx="1828800" cy="1207008"/>
          </a:xfrm>
          <a:prstGeom prst="rect">
            <a:avLst/>
          </a:prstGeom>
          <a:solidFill>
            <a:srgbClr val="1B3A5C"/>
          </a:solidFill>
          <a:ln w="6350">
            <a:solidFill>
              <a:srgbClr val="3A3010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839712" y="1490472"/>
            <a:ext cx="1737360" cy="8229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793992" y="232257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 Farm Installation</a:t>
            </a:r>
            <a:endParaRPr lang="en-US" sz="800" dirty="0"/>
          </a:p>
        </p:txBody>
      </p:sp>
      <p:sp>
        <p:nvSpPr>
          <p:cNvPr id="33" name="Shape 25"/>
          <p:cNvSpPr/>
          <p:nvPr/>
        </p:nvSpPr>
        <p:spPr>
          <a:xfrm>
            <a:off x="4873752" y="2834640"/>
            <a:ext cx="1828800" cy="1207008"/>
          </a:xfrm>
          <a:prstGeom prst="rect">
            <a:avLst/>
          </a:prstGeom>
          <a:solidFill>
            <a:srgbClr val="1B3A5C"/>
          </a:solidFill>
          <a:ln w="6350">
            <a:solidFill>
              <a:srgbClr val="3A3010"/>
            </a:solidFill>
            <a:prstDash val="solid"/>
          </a:ln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919472" y="2880360"/>
            <a:ext cx="1737360" cy="82296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4873752" y="371246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Monitoring Center</a:t>
            </a:r>
            <a:endParaRPr lang="en-US" sz="800" dirty="0"/>
          </a:p>
        </p:txBody>
      </p:sp>
      <p:sp>
        <p:nvSpPr>
          <p:cNvPr id="36" name="Shape 27"/>
          <p:cNvSpPr/>
          <p:nvPr/>
        </p:nvSpPr>
        <p:spPr>
          <a:xfrm>
            <a:off x="6793992" y="2834640"/>
            <a:ext cx="1828800" cy="1207008"/>
          </a:xfrm>
          <a:prstGeom prst="rect">
            <a:avLst/>
          </a:prstGeom>
          <a:solidFill>
            <a:srgbClr val="1B3A5C"/>
          </a:solidFill>
          <a:ln w="6350">
            <a:solidFill>
              <a:srgbClr val="3A3010"/>
            </a:solidFill>
            <a:prstDash val="solid"/>
          </a:ln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6839712" y="2880360"/>
            <a:ext cx="1737360" cy="822960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6793992" y="371246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On-site Technical Support</a:t>
            </a:r>
            <a:endParaRPr lang="en-US" sz="800" dirty="0"/>
          </a:p>
        </p:txBody>
      </p:sp>
      <p:sp>
        <p:nvSpPr>
          <p:cNvPr id="39" name="Text 29"/>
          <p:cNvSpPr/>
          <p:nvPr/>
        </p:nvSpPr>
        <p:spPr>
          <a:xfrm>
            <a:off x="4892040" y="41330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 Temp + CO2 + Moisture inline</a:t>
            </a:r>
            <a:endParaRPr lang="en-US" sz="850" dirty="0"/>
          </a:p>
        </p:txBody>
      </p:sp>
      <p:sp>
        <p:nvSpPr>
          <p:cNvPr id="40" name="Text 30"/>
          <p:cNvSpPr/>
          <p:nvPr/>
        </p:nvSpPr>
        <p:spPr>
          <a:xfrm>
            <a:off x="4892040" y="433425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Fire detection built-in</a:t>
            </a:r>
            <a:endParaRPr lang="en-US" sz="850" dirty="0"/>
          </a:p>
        </p:txBody>
      </p:sp>
      <p:sp>
        <p:nvSpPr>
          <p:cNvPr id="41" name="Text 31"/>
          <p:cNvSpPr/>
          <p:nvPr/>
        </p:nvSpPr>
        <p:spPr>
          <a:xfrm>
            <a:off x="4892040" y="453542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Mobile app + 24/7 support</a:t>
            </a:r>
            <a:endParaRPr lang="en-US" sz="850" dirty="0"/>
          </a:p>
        </p:txBody>
      </p:sp>
      <p:sp>
        <p:nvSpPr>
          <p:cNvPr id="42" name="Text 32"/>
          <p:cNvSpPr/>
          <p:nvPr/>
        </p:nvSpPr>
        <p:spPr>
          <a:xfrm>
            <a:off x="4892040" y="473659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Plug-and-play, no PLC needed</a:t>
            </a:r>
            <a:endParaRPr lang="en-US" sz="850" dirty="0"/>
          </a:p>
        </p:txBody>
      </p:sp>
      <p:sp>
        <p:nvSpPr>
          <p:cNvPr id="43" name="Shape 33"/>
          <p:cNvSpPr/>
          <p:nvPr/>
        </p:nvSpPr>
        <p:spPr>
          <a:xfrm>
            <a:off x="4229100" y="2331720"/>
            <a:ext cx="685800" cy="6858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34"/>
          <p:cNvSpPr/>
          <p:nvPr/>
        </p:nvSpPr>
        <p:spPr>
          <a:xfrm>
            <a:off x="4229100" y="242316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พร้อมยกระดับโรงงานของคุณ?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Kid-D Tech พร้อมให้คำปรึกษาและสาธิตระบบฟรี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77240" y="2148840"/>
            <a:ext cx="2423160" cy="1691640"/>
          </a:xfrm>
          <a:prstGeom prst="rect">
            <a:avLst/>
          </a:prstGeom>
          <a:solidFill>
            <a:srgbClr val="1B3A5C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21284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📧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77240" y="272491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อีเมล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301752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contact@kid-dtech.com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29000" y="2148840"/>
            <a:ext cx="2423160" cy="1691640"/>
          </a:xfrm>
          <a:prstGeom prst="rect">
            <a:avLst/>
          </a:prstGeom>
          <a:solidFill>
            <a:srgbClr val="1B3A5C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29000" y="221284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📞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429000" y="272491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โทรศัพท์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29000" y="301752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ติดต่อเพื่อนัดสาธิต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0760" y="2148840"/>
            <a:ext cx="2423160" cy="1691640"/>
          </a:xfrm>
          <a:prstGeom prst="rect">
            <a:avLst/>
          </a:prstGeom>
          <a:solidFill>
            <a:srgbClr val="1B3A5C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80760" y="221284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🌐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080760" y="272491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เว็บไซต์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80760" y="301752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www.kid-dtech.com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46227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Kid-D Tech  ·  ระบบตรวจสอบไซโลอัจฉริยะ  ·  Smart Grain Monitoring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Kid-D Tech — ระบบตรวจสอบไซโลอัจฉริยะ</dc:title>
  <dc:subject>PptxGenJS Presentation</dc:subject>
  <dc:creator>PptxGenJS</dc:creator>
  <cp:lastModifiedBy>PptxGenJS</cp:lastModifiedBy>
  <cp:revision>1</cp:revision>
  <dcterms:created xsi:type="dcterms:W3CDTF">2026-06-11T15:23:21Z</dcterms:created>
  <dcterms:modified xsi:type="dcterms:W3CDTF">2026-06-11T15:23:21Z</dcterms:modified>
</cp:coreProperties>
</file>